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ARCHITECTURE PROPOSAL | FOR ANTHROPIC TECHNICAL REVIEW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Continuous</a:t>
            </a:r>
            <a:endParaRPr lang="en-US" sz="68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Self-Improving System</a:t>
            </a:r>
            <a:endParaRPr lang="en-US" sz="6800" dirty="0"/>
          </a:p>
        </p:txBody>
      </p:sp>
      <p:sp>
        <p:nvSpPr>
          <p:cNvPr id="6" name="Text 4"/>
          <p:cNvSpPr/>
          <p:nvPr/>
        </p:nvSpPr>
        <p:spPr>
          <a:xfrm>
            <a:off x="640080" y="3520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800" i="1" dirty="0">
                <a:solidFill>
                  <a:srgbClr val="5C5A5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An always-on, curiosity-driven, recursively self-learning brain - engineered to compound understanding past human-expert ceilings under load-bearing safety.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5212080"/>
            <a:ext cx="2743200" cy="18288"/>
          </a:xfrm>
          <a:prstGeom prst="line">
            <a:avLst/>
          </a:prstGeom>
          <a:noFill/>
          <a:ln w="12700">
            <a:solidFill>
              <a:srgbClr val="D977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5303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Jaron | jim4226@miami.edu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56235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8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Prepared May 9, 2026 | v0.1 | Built on Anthropic Managed Agents + Dreams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 | THE THESIS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 an agent. Not an assistant.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24/7 brain that learns past every human expert.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CSIS is a long-lived multi-agent organization with persistent memory, a curiosity engine that designs its own experiments, a hardened verification stack, and a recursive meta-improvement layer - wrapped in a constitutional safety envelope that gates capability growth on interpretability bandwidth, not on calendar time.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4297680"/>
            <a:ext cx="3657600" cy="1828800"/>
          </a:xfrm>
          <a:prstGeom prst="rect">
            <a:avLst/>
          </a:prstGeom>
          <a:solidFill>
            <a:srgbClr val="F2F0E8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297680"/>
            <a:ext cx="36576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5262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100%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7200" y="5212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wall-clock cognition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5577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5A5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 biological sleep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97680" y="4297680"/>
            <a:ext cx="3657600" cy="1828800"/>
          </a:xfrm>
          <a:prstGeom prst="rect">
            <a:avLst/>
          </a:prstGeom>
          <a:solidFill>
            <a:srgbClr val="F2F0E8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0" y="4297680"/>
            <a:ext cx="36576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3" name="Text 11"/>
          <p:cNvSpPr/>
          <p:nvPr/>
        </p:nvSpPr>
        <p:spPr>
          <a:xfrm>
            <a:off x="4297680" y="45262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compounding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4297680" y="5212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verified gains/cycle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97680" y="5577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5A5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 expert plateau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38160" y="4297680"/>
            <a:ext cx="3657600" cy="1828800"/>
          </a:xfrm>
          <a:prstGeom prst="rect">
            <a:avLst/>
          </a:prstGeom>
          <a:solidFill>
            <a:srgbClr val="F2F0E8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4297680"/>
            <a:ext cx="36576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8" name="Text 16"/>
          <p:cNvSpPr/>
          <p:nvPr/>
        </p:nvSpPr>
        <p:spPr>
          <a:xfrm>
            <a:off x="8138160" y="45262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bounded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8138160" y="5212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by interpretability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38160" y="5577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5A5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not by ambition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19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CSIS | v0.1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 | THE BRAIN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Specialized cognitive lobes around a perpetual control loop.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120640" y="3657600"/>
            <a:ext cx="1828800" cy="1097280"/>
          </a:xfrm>
          <a:prstGeom prst="ellipse">
            <a:avLst/>
          </a:prstGeom>
          <a:solidFill>
            <a:srgbClr val="F2F0E8"/>
          </a:solidFill>
          <a:ln w="254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0" y="37947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Loop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120640" y="4206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never stops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11680" y="2011680"/>
            <a:ext cx="2560320" cy="731520"/>
          </a:xfrm>
          <a:prstGeom prst="roundRect">
            <a:avLst>
              <a:gd name="adj" fmla="val 50000"/>
            </a:avLst>
          </a:prstGeom>
          <a:solidFill>
            <a:srgbClr val="F2F0E8"/>
          </a:solidFill>
          <a:ln w="22860">
            <a:solidFill>
              <a:srgbClr val="D977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2057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Research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011680" y="2377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5A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read all | run all | synthesize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498080" y="2011680"/>
            <a:ext cx="2560320" cy="731520"/>
          </a:xfrm>
          <a:prstGeom prst="roundRect">
            <a:avLst>
              <a:gd name="adj" fmla="val 50000"/>
            </a:avLst>
          </a:prstGeom>
          <a:solidFill>
            <a:srgbClr val="F2F0E8"/>
          </a:solidFill>
          <a:ln w="22860">
            <a:solidFill>
              <a:srgbClr val="6A9B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0" y="2057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Curiosity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98080" y="2377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5A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frontier | surprise | contradiction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778240" y="3840480"/>
            <a:ext cx="2560320" cy="731520"/>
          </a:xfrm>
          <a:prstGeom prst="roundRect">
            <a:avLst>
              <a:gd name="adj" fmla="val 50000"/>
            </a:avLst>
          </a:prstGeom>
          <a:solidFill>
            <a:srgbClr val="F2F0E8"/>
          </a:solidFill>
          <a:ln w="22860">
            <a:solidFill>
              <a:srgbClr val="788C5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0" y="3886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Verification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778240" y="4206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5A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graders | debate | replication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498080" y="5669280"/>
            <a:ext cx="2560320" cy="731520"/>
          </a:xfrm>
          <a:prstGeom prst="roundRect">
            <a:avLst>
              <a:gd name="adj" fmla="val 50000"/>
            </a:avLst>
          </a:prstGeom>
          <a:solidFill>
            <a:srgbClr val="F2F0E8"/>
          </a:solidFill>
          <a:ln w="22860">
            <a:solidFill>
              <a:srgbClr val="6A9B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0" y="5715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Procedural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498080" y="60350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5A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skills | compiled patterns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011680" y="5669280"/>
            <a:ext cx="2560320" cy="731520"/>
          </a:xfrm>
          <a:prstGeom prst="roundRect">
            <a:avLst>
              <a:gd name="adj" fmla="val 50000"/>
            </a:avLst>
          </a:prstGeom>
          <a:solidFill>
            <a:srgbClr val="F2F0E8"/>
          </a:solidFill>
          <a:ln w="22860">
            <a:solidFill>
              <a:srgbClr val="D977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11680" y="5715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Causal memory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011680" y="60350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5A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mechanism | why-models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3840480"/>
            <a:ext cx="2560320" cy="731520"/>
          </a:xfrm>
          <a:prstGeom prst="roundRect">
            <a:avLst>
              <a:gd name="adj" fmla="val 50000"/>
            </a:avLst>
          </a:prstGeom>
          <a:solidFill>
            <a:srgbClr val="F2F0E8"/>
          </a:solidFill>
          <a:ln w="22860">
            <a:solidFill>
              <a:srgbClr val="788C5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886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Sleep / Dreams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" y="4206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5A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consolidation | insight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5A5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Each lobe is a long-running session with its own scaffold, eval suite, and capability tier.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19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CSIS | v0.1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 | TRAJECTORY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Past the human-expert ceiling. Bounded only by interpretability.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14400" y="2103120"/>
            <a:ext cx="10332720" cy="3931920"/>
          </a:xfrm>
          <a:prstGeom prst="rect">
            <a:avLst/>
          </a:prstGeom>
          <a:solidFill>
            <a:srgbClr val="F2F0E8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5577840"/>
            <a:ext cx="9418320" cy="18288"/>
          </a:xfrm>
          <a:prstGeom prst="line">
            <a:avLst/>
          </a:prstGeom>
          <a:noFill/>
          <a:ln w="12700">
            <a:solidFill>
              <a:srgbClr val="8A88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2377440"/>
            <a:ext cx="18288" cy="3200400"/>
          </a:xfrm>
          <a:prstGeom prst="line">
            <a:avLst/>
          </a:prstGeom>
          <a:noFill/>
          <a:ln w="12700">
            <a:solidFill>
              <a:srgbClr val="8A88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5760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8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time (continuous operation) -&gt;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554480" y="2514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8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capability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371600" y="5394960"/>
            <a:ext cx="9235440" cy="18288"/>
          </a:xfrm>
          <a:prstGeom prst="line">
            <a:avLst/>
          </a:prstGeom>
          <a:noFill/>
          <a:ln w="17780">
            <a:solidFill>
              <a:srgbClr val="788C5D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7955280" y="51663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88C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Best human expert (asymptote)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371600" y="5524957"/>
            <a:ext cx="470916" cy="-3321"/>
          </a:xfrm>
          <a:prstGeom prst="line">
            <a:avLst/>
          </a:prstGeom>
          <a:noFill/>
          <a:ln w="30480">
            <a:solidFill>
              <a:srgbClr val="5C5A52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1842516" y="5521637"/>
            <a:ext cx="470916" cy="-4727"/>
          </a:xfrm>
          <a:prstGeom prst="line">
            <a:avLst/>
          </a:prstGeom>
          <a:noFill/>
          <a:ln w="30480">
            <a:solidFill>
              <a:srgbClr val="5C5A52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2313432" y="5516909"/>
            <a:ext cx="470916" cy="-6589"/>
          </a:xfrm>
          <a:prstGeom prst="line">
            <a:avLst/>
          </a:prstGeom>
          <a:noFill/>
          <a:ln w="30480">
            <a:solidFill>
              <a:srgbClr val="5C5A52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2784348" y="5510320"/>
            <a:ext cx="470916" cy="-8921"/>
          </a:xfrm>
          <a:prstGeom prst="line">
            <a:avLst/>
          </a:prstGeom>
          <a:noFill/>
          <a:ln w="30480">
            <a:solidFill>
              <a:srgbClr val="5C5A52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3255264" y="5501400"/>
            <a:ext cx="470916" cy="-11612"/>
          </a:xfrm>
          <a:prstGeom prst="line">
            <a:avLst/>
          </a:prstGeom>
          <a:noFill/>
          <a:ln w="30480">
            <a:solidFill>
              <a:srgbClr val="5C5A52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3726180" y="5489788"/>
            <a:ext cx="470916" cy="-14365"/>
          </a:xfrm>
          <a:prstGeom prst="line">
            <a:avLst/>
          </a:prstGeom>
          <a:noFill/>
          <a:ln w="30480">
            <a:solidFill>
              <a:srgbClr val="5C5A52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4197096" y="5475423"/>
            <a:ext cx="470916" cy="-16695"/>
          </a:xfrm>
          <a:prstGeom prst="line">
            <a:avLst/>
          </a:prstGeom>
          <a:noFill/>
          <a:ln w="30480">
            <a:solidFill>
              <a:srgbClr val="5C5A52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4668012" y="5458728"/>
            <a:ext cx="470916" cy="-18048"/>
          </a:xfrm>
          <a:prstGeom prst="line">
            <a:avLst/>
          </a:prstGeom>
          <a:noFill/>
          <a:ln w="30480">
            <a:solidFill>
              <a:srgbClr val="5C5A52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5138928" y="5440680"/>
            <a:ext cx="470916" cy="-18048"/>
          </a:xfrm>
          <a:prstGeom prst="line">
            <a:avLst/>
          </a:prstGeom>
          <a:noFill/>
          <a:ln w="30480">
            <a:solidFill>
              <a:srgbClr val="5C5A52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5609844" y="5422632"/>
            <a:ext cx="470916" cy="-16695"/>
          </a:xfrm>
          <a:prstGeom prst="line">
            <a:avLst/>
          </a:prstGeom>
          <a:noFill/>
          <a:ln w="30480">
            <a:solidFill>
              <a:srgbClr val="5C5A52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6080760" y="5405937"/>
            <a:ext cx="470916" cy="-14365"/>
          </a:xfrm>
          <a:prstGeom prst="line">
            <a:avLst/>
          </a:prstGeom>
          <a:noFill/>
          <a:ln w="30480">
            <a:solidFill>
              <a:srgbClr val="5C5A52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6551676" y="5391572"/>
            <a:ext cx="470916" cy="-11612"/>
          </a:xfrm>
          <a:prstGeom prst="line">
            <a:avLst/>
          </a:prstGeom>
          <a:noFill/>
          <a:ln w="30480">
            <a:solidFill>
              <a:srgbClr val="5C5A52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7022592" y="5379960"/>
            <a:ext cx="470916" cy="-8921"/>
          </a:xfrm>
          <a:prstGeom prst="line">
            <a:avLst/>
          </a:prstGeom>
          <a:noFill/>
          <a:ln w="30480">
            <a:solidFill>
              <a:srgbClr val="5C5A52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7493508" y="5371040"/>
            <a:ext cx="470916" cy="-6589"/>
          </a:xfrm>
          <a:prstGeom prst="line">
            <a:avLst/>
          </a:prstGeom>
          <a:noFill/>
          <a:ln w="30480">
            <a:solidFill>
              <a:srgbClr val="5C5A52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7964424" y="5364451"/>
            <a:ext cx="470916" cy="-4727"/>
          </a:xfrm>
          <a:prstGeom prst="line">
            <a:avLst/>
          </a:prstGeom>
          <a:noFill/>
          <a:ln w="30480">
            <a:solidFill>
              <a:srgbClr val="5C5A52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8435340" y="5359723"/>
            <a:ext cx="470916" cy="-3321"/>
          </a:xfrm>
          <a:prstGeom prst="line">
            <a:avLst/>
          </a:prstGeom>
          <a:noFill/>
          <a:ln w="30480">
            <a:solidFill>
              <a:srgbClr val="5C5A52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8906256" y="5356403"/>
            <a:ext cx="470916" cy="-2299"/>
          </a:xfrm>
          <a:prstGeom prst="line">
            <a:avLst/>
          </a:prstGeom>
          <a:noFill/>
          <a:ln w="30480">
            <a:solidFill>
              <a:srgbClr val="5C5A52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9377172" y="5354104"/>
            <a:ext cx="470916" cy="-1575"/>
          </a:xfrm>
          <a:prstGeom prst="line">
            <a:avLst/>
          </a:prstGeom>
          <a:noFill/>
          <a:ln w="30480">
            <a:solidFill>
              <a:srgbClr val="5C5A52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9848088" y="5352529"/>
            <a:ext cx="470916" cy="-1071"/>
          </a:xfrm>
          <a:prstGeom prst="line">
            <a:avLst/>
          </a:prstGeom>
          <a:noFill/>
          <a:ln w="30480">
            <a:solidFill>
              <a:srgbClr val="5C5A52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10319004" y="5351458"/>
            <a:ext cx="470916" cy="-725"/>
          </a:xfrm>
          <a:prstGeom prst="line">
            <a:avLst/>
          </a:prstGeom>
          <a:noFill/>
          <a:ln w="30480">
            <a:solidFill>
              <a:srgbClr val="5C5A52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28800" y="4937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A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human expert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371600" y="5532120"/>
            <a:ext cx="470916" cy="-376236"/>
          </a:xfrm>
          <a:prstGeom prst="line">
            <a:avLst/>
          </a:prstGeom>
          <a:noFill/>
          <a:ln w="45720">
            <a:solidFill>
              <a:srgbClr val="D9775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842516" y="5155884"/>
            <a:ext cx="470916" cy="-234961"/>
          </a:xfrm>
          <a:prstGeom prst="line">
            <a:avLst/>
          </a:prstGeom>
          <a:noFill/>
          <a:ln w="45720">
            <a:solidFill>
              <a:srgbClr val="D9775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13432" y="4920923"/>
            <a:ext cx="470916" cy="-200596"/>
          </a:xfrm>
          <a:prstGeom prst="line">
            <a:avLst/>
          </a:prstGeom>
          <a:noFill/>
          <a:ln w="45720">
            <a:solidFill>
              <a:srgbClr val="D9775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84348" y="4720328"/>
            <a:ext cx="470916" cy="-181100"/>
          </a:xfrm>
          <a:prstGeom prst="line">
            <a:avLst/>
          </a:prstGeom>
          <a:noFill/>
          <a:ln w="45720">
            <a:solidFill>
              <a:srgbClr val="D9775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55264" y="4539228"/>
            <a:ext cx="470916" cy="-167859"/>
          </a:xfrm>
          <a:prstGeom prst="line">
            <a:avLst/>
          </a:prstGeom>
          <a:noFill/>
          <a:ln w="45720">
            <a:solidFill>
              <a:srgbClr val="D9775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726180" y="4371369"/>
            <a:ext cx="470916" cy="-158010"/>
          </a:xfrm>
          <a:prstGeom prst="line">
            <a:avLst/>
          </a:prstGeom>
          <a:noFill/>
          <a:ln w="45720">
            <a:solidFill>
              <a:srgbClr val="D9775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197096" y="4213360"/>
            <a:ext cx="470916" cy="-150263"/>
          </a:xfrm>
          <a:prstGeom prst="line">
            <a:avLst/>
          </a:prstGeom>
          <a:noFill/>
          <a:ln w="45720">
            <a:solidFill>
              <a:srgbClr val="D9775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68012" y="4063097"/>
            <a:ext cx="470916" cy="-143935"/>
          </a:xfrm>
          <a:prstGeom prst="line">
            <a:avLst/>
          </a:prstGeom>
          <a:noFill/>
          <a:ln w="45720">
            <a:solidFill>
              <a:srgbClr val="D9775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138928" y="3919162"/>
            <a:ext cx="470916" cy="-138621"/>
          </a:xfrm>
          <a:prstGeom prst="line">
            <a:avLst/>
          </a:prstGeom>
          <a:noFill/>
          <a:ln w="45720">
            <a:solidFill>
              <a:srgbClr val="D9775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609844" y="3780541"/>
            <a:ext cx="470916" cy="-134066"/>
          </a:xfrm>
          <a:prstGeom prst="line">
            <a:avLst/>
          </a:prstGeom>
          <a:noFill/>
          <a:ln w="45720">
            <a:solidFill>
              <a:srgbClr val="D9775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80760" y="3646475"/>
            <a:ext cx="470916" cy="-130096"/>
          </a:xfrm>
          <a:prstGeom prst="line">
            <a:avLst/>
          </a:prstGeom>
          <a:noFill/>
          <a:ln w="45720">
            <a:solidFill>
              <a:srgbClr val="D9775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551676" y="3516378"/>
            <a:ext cx="470916" cy="-126591"/>
          </a:xfrm>
          <a:prstGeom prst="line">
            <a:avLst/>
          </a:prstGeom>
          <a:noFill/>
          <a:ln w="45720">
            <a:solidFill>
              <a:srgbClr val="D9775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022592" y="3389787"/>
            <a:ext cx="470916" cy="-123461"/>
          </a:xfrm>
          <a:prstGeom prst="line">
            <a:avLst/>
          </a:prstGeom>
          <a:noFill/>
          <a:ln w="45720">
            <a:solidFill>
              <a:srgbClr val="D9775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493508" y="3266326"/>
            <a:ext cx="470916" cy="-120641"/>
          </a:xfrm>
          <a:prstGeom prst="line">
            <a:avLst/>
          </a:prstGeom>
          <a:noFill/>
          <a:ln w="45720">
            <a:solidFill>
              <a:srgbClr val="D9775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964424" y="3145685"/>
            <a:ext cx="470916" cy="-118081"/>
          </a:xfrm>
          <a:prstGeom prst="line">
            <a:avLst/>
          </a:prstGeom>
          <a:noFill/>
          <a:ln w="45720">
            <a:solidFill>
              <a:srgbClr val="D9775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435340" y="3027603"/>
            <a:ext cx="470916" cy="-115741"/>
          </a:xfrm>
          <a:prstGeom prst="line">
            <a:avLst/>
          </a:prstGeom>
          <a:noFill/>
          <a:ln w="45720">
            <a:solidFill>
              <a:srgbClr val="D9775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906256" y="2911862"/>
            <a:ext cx="470916" cy="-113590"/>
          </a:xfrm>
          <a:prstGeom prst="line">
            <a:avLst/>
          </a:prstGeom>
          <a:noFill/>
          <a:ln w="45720">
            <a:solidFill>
              <a:srgbClr val="D9775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377172" y="2798273"/>
            <a:ext cx="470916" cy="-111601"/>
          </a:xfrm>
          <a:prstGeom prst="line">
            <a:avLst/>
          </a:prstGeom>
          <a:noFill/>
          <a:ln w="45720">
            <a:solidFill>
              <a:srgbClr val="D9775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848088" y="2686671"/>
            <a:ext cx="470916" cy="-109756"/>
          </a:xfrm>
          <a:prstGeom prst="line">
            <a:avLst/>
          </a:prstGeom>
          <a:noFill/>
          <a:ln w="45720">
            <a:solidFill>
              <a:srgbClr val="D97757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319004" y="2576915"/>
            <a:ext cx="470916" cy="-108035"/>
          </a:xfrm>
          <a:prstGeom prst="line">
            <a:avLst/>
          </a:prstGeom>
          <a:noFill/>
          <a:ln w="45720">
            <a:solidFill>
              <a:srgbClr val="D9775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863840" y="2423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CSIS | 24/7 compounding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1371600" y="2148840"/>
            <a:ext cx="9418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9775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growth gated by interpretability budget + RSP-style capability tripwires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5A5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Within a single 24-hour window, CSIS reads more peer-reviewed literature than a human expert reads in a year, designs and runs more experiments than a typical lab runs in a quarter, falsifies and rejects more of its own beliefs than a human will update in a lifetime - and consolidates the day's lessons across the entire knowledge base, not just the part the expert was working on.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19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CSIS | v0.1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 | HEARTBEAT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Three nested cadences. Always something running, at every layer.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11247120" cy="4572000"/>
          </a:xfrm>
          <a:prstGeom prst="rect">
            <a:avLst/>
          </a:prstGeom>
          <a:solidFill>
            <a:srgbClr val="F2F0E8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6126480"/>
            <a:ext cx="9875520" cy="18288"/>
          </a:xfrm>
          <a:prstGeom prst="line">
            <a:avLst/>
          </a:prstGeom>
          <a:noFill/>
          <a:ln w="12700">
            <a:solidFill>
              <a:srgbClr val="8A88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3040" y="6126480"/>
            <a:ext cx="18288" cy="73152"/>
          </a:xfrm>
          <a:prstGeom prst="line">
            <a:avLst/>
          </a:prstGeom>
          <a:noFill/>
          <a:ln w="12700">
            <a:solidFill>
              <a:srgbClr val="8A88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62179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8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00:00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08960" y="6126480"/>
            <a:ext cx="18288" cy="73152"/>
          </a:xfrm>
          <a:prstGeom prst="line">
            <a:avLst/>
          </a:prstGeom>
          <a:noFill/>
          <a:ln w="12700">
            <a:solidFill>
              <a:srgbClr val="8A88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62179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8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04:00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6126480"/>
            <a:ext cx="18288" cy="73152"/>
          </a:xfrm>
          <a:prstGeom prst="line">
            <a:avLst/>
          </a:prstGeom>
          <a:noFill/>
          <a:ln w="12700">
            <a:solidFill>
              <a:srgbClr val="8A88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62179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8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08:00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0" y="6126480"/>
            <a:ext cx="18288" cy="73152"/>
          </a:xfrm>
          <a:prstGeom prst="line">
            <a:avLst/>
          </a:prstGeom>
          <a:noFill/>
          <a:ln w="12700">
            <a:solidFill>
              <a:srgbClr val="8A88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62179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8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12:00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46720" y="6126480"/>
            <a:ext cx="18288" cy="73152"/>
          </a:xfrm>
          <a:prstGeom prst="line">
            <a:avLst/>
          </a:prstGeom>
          <a:noFill/>
          <a:ln w="12700">
            <a:solidFill>
              <a:srgbClr val="8A88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0" y="62179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8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16:00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692640" y="6126480"/>
            <a:ext cx="18288" cy="73152"/>
          </a:xfrm>
          <a:prstGeom prst="line">
            <a:avLst/>
          </a:prstGeom>
          <a:noFill/>
          <a:ln w="12700">
            <a:solidFill>
              <a:srgbClr val="8A88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0" y="62179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8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20:00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1338560" y="6126480"/>
            <a:ext cx="18288" cy="73152"/>
          </a:xfrm>
          <a:prstGeom prst="line">
            <a:avLst/>
          </a:prstGeom>
          <a:noFill/>
          <a:ln w="12700">
            <a:solidFill>
              <a:srgbClr val="8A88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0" y="62179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8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24:00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1828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FAST LOOP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210312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A5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thousands of cycles/day | each is a complete observe-&gt;verify-&gt;audit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554480" y="2148840"/>
            <a:ext cx="9875520" cy="18288"/>
          </a:xfrm>
          <a:prstGeom prst="line">
            <a:avLst/>
          </a:prstGeom>
          <a:noFill/>
          <a:ln w="12700">
            <a:solidFill>
              <a:srgbClr val="E8E6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2918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88C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CONSOLIDATION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356616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A5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Dreams every ~4h | per memory tier | Auditor-gated promotion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554480" y="3611880"/>
            <a:ext cx="9875520" cy="18288"/>
          </a:xfrm>
          <a:prstGeom prst="line">
            <a:avLst/>
          </a:prstGeom>
          <a:noFill/>
          <a:ln w="12700">
            <a:solidFill>
              <a:srgbClr val="E8E6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A9B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META-CYCLE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502920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A5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scaffold/curriculum PRs | daily | eval-suite + human approval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554480" y="5074920"/>
            <a:ext cx="9875520" cy="18288"/>
          </a:xfrm>
          <a:prstGeom prst="line">
            <a:avLst/>
          </a:prstGeom>
          <a:noFill/>
          <a:ln w="12700">
            <a:solidFill>
              <a:srgbClr val="E8E6D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600200" y="1874520"/>
            <a:ext cx="109728" cy="502920"/>
          </a:xfrm>
          <a:prstGeom prst="rect">
            <a:avLst/>
          </a:prstGeom>
          <a:solidFill>
            <a:srgbClr val="F2F0E8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78508" y="1874520"/>
            <a:ext cx="109728" cy="502920"/>
          </a:xfrm>
          <a:prstGeom prst="rect">
            <a:avLst/>
          </a:prstGeom>
          <a:solidFill>
            <a:srgbClr val="F2F0E8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56816" y="1874520"/>
            <a:ext cx="109728" cy="502920"/>
          </a:xfrm>
          <a:prstGeom prst="rect">
            <a:avLst/>
          </a:prstGeom>
          <a:solidFill>
            <a:srgbClr val="F2F0E8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135124" y="1874520"/>
            <a:ext cx="109728" cy="502920"/>
          </a:xfrm>
          <a:prstGeom prst="rect">
            <a:avLst/>
          </a:prstGeom>
          <a:solidFill>
            <a:srgbClr val="F2F0E8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313432" y="1874520"/>
            <a:ext cx="109728" cy="502920"/>
          </a:xfrm>
          <a:prstGeom prst="rect">
            <a:avLst/>
          </a:prstGeom>
          <a:solidFill>
            <a:srgbClr val="F2F0E8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491740" y="1874520"/>
            <a:ext cx="109728" cy="502920"/>
          </a:xfrm>
          <a:prstGeom prst="rect">
            <a:avLst/>
          </a:prstGeom>
          <a:solidFill>
            <a:srgbClr val="F2F0E8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670048" y="1874520"/>
            <a:ext cx="109728" cy="502920"/>
          </a:xfrm>
          <a:prstGeom prst="rect">
            <a:avLst/>
          </a:prstGeom>
          <a:solidFill>
            <a:srgbClr val="F2F0E8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48356" y="1874520"/>
            <a:ext cx="109728" cy="502920"/>
          </a:xfrm>
          <a:prstGeom prst="rect">
            <a:avLst/>
          </a:prstGeom>
          <a:solidFill>
            <a:srgbClr val="F2F0E8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026664" y="1874520"/>
            <a:ext cx="109728" cy="502920"/>
          </a:xfrm>
          <a:prstGeom prst="rect">
            <a:avLst/>
          </a:prstGeom>
          <a:solidFill>
            <a:srgbClr val="F2F0E8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4972" y="1874520"/>
            <a:ext cx="109728" cy="502920"/>
          </a:xfrm>
          <a:prstGeom prst="rect">
            <a:avLst/>
          </a:prstGeom>
          <a:solidFill>
            <a:srgbClr val="F2F0E8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383280" y="1874520"/>
            <a:ext cx="109728" cy="502920"/>
          </a:xfrm>
          <a:prstGeom prst="rect">
            <a:avLst/>
          </a:prstGeom>
          <a:solidFill>
            <a:srgbClr val="F2F0E8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561588" y="1874520"/>
            <a:ext cx="109728" cy="502920"/>
          </a:xfrm>
          <a:prstGeom prst="rect">
            <a:avLst/>
          </a:prstGeom>
          <a:solidFill>
            <a:srgbClr val="F2F0E8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39896" y="1874520"/>
            <a:ext cx="109728" cy="502920"/>
          </a:xfrm>
          <a:prstGeom prst="rect">
            <a:avLst/>
          </a:prstGeom>
          <a:solidFill>
            <a:srgbClr val="F2F0E8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918204" y="1874520"/>
            <a:ext cx="109728" cy="502920"/>
          </a:xfrm>
          <a:prstGeom prst="rect">
            <a:avLst/>
          </a:prstGeom>
          <a:solidFill>
            <a:srgbClr val="F2F0E8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096512" y="1874520"/>
            <a:ext cx="109728" cy="502920"/>
          </a:xfrm>
          <a:prstGeom prst="rect">
            <a:avLst/>
          </a:prstGeom>
          <a:solidFill>
            <a:srgbClr val="F2F0E8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274820" y="1874520"/>
            <a:ext cx="109728" cy="502920"/>
          </a:xfrm>
          <a:prstGeom prst="rect">
            <a:avLst/>
          </a:prstGeom>
          <a:solidFill>
            <a:srgbClr val="F2F0E8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453128" y="1874520"/>
            <a:ext cx="109728" cy="502920"/>
          </a:xfrm>
          <a:prstGeom prst="rect">
            <a:avLst/>
          </a:prstGeom>
          <a:solidFill>
            <a:srgbClr val="F2F0E8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631436" y="1874520"/>
            <a:ext cx="109728" cy="502920"/>
          </a:xfrm>
          <a:prstGeom prst="rect">
            <a:avLst/>
          </a:prstGeom>
          <a:solidFill>
            <a:srgbClr val="F2F0E8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809744" y="1874520"/>
            <a:ext cx="109728" cy="502920"/>
          </a:xfrm>
          <a:prstGeom prst="rect">
            <a:avLst/>
          </a:prstGeom>
          <a:solidFill>
            <a:srgbClr val="F2F0E8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988052" y="1874520"/>
            <a:ext cx="109728" cy="502920"/>
          </a:xfrm>
          <a:prstGeom prst="rect">
            <a:avLst/>
          </a:prstGeom>
          <a:solidFill>
            <a:srgbClr val="F2F0E8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166360" y="1874520"/>
            <a:ext cx="109728" cy="502920"/>
          </a:xfrm>
          <a:prstGeom prst="rect">
            <a:avLst/>
          </a:prstGeom>
          <a:solidFill>
            <a:srgbClr val="F2F0E8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344668" y="1874520"/>
            <a:ext cx="109728" cy="502920"/>
          </a:xfrm>
          <a:prstGeom prst="rect">
            <a:avLst/>
          </a:prstGeom>
          <a:solidFill>
            <a:srgbClr val="F2F0E8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522976" y="1874520"/>
            <a:ext cx="109728" cy="502920"/>
          </a:xfrm>
          <a:prstGeom prst="rect">
            <a:avLst/>
          </a:prstGeom>
          <a:solidFill>
            <a:srgbClr val="F2F0E8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01284" y="1874520"/>
            <a:ext cx="109728" cy="502920"/>
          </a:xfrm>
          <a:prstGeom prst="rect">
            <a:avLst/>
          </a:prstGeom>
          <a:solidFill>
            <a:srgbClr val="F2F0E8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879592" y="1874520"/>
            <a:ext cx="109728" cy="502920"/>
          </a:xfrm>
          <a:prstGeom prst="rect">
            <a:avLst/>
          </a:prstGeom>
          <a:solidFill>
            <a:srgbClr val="F2F0E8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057900" y="1874520"/>
            <a:ext cx="109728" cy="502920"/>
          </a:xfrm>
          <a:prstGeom prst="rect">
            <a:avLst/>
          </a:prstGeom>
          <a:solidFill>
            <a:srgbClr val="F2F0E8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236208" y="1874520"/>
            <a:ext cx="109728" cy="502920"/>
          </a:xfrm>
          <a:prstGeom prst="rect">
            <a:avLst/>
          </a:prstGeom>
          <a:solidFill>
            <a:srgbClr val="F2F0E8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414516" y="1874520"/>
            <a:ext cx="109728" cy="502920"/>
          </a:xfrm>
          <a:prstGeom prst="rect">
            <a:avLst/>
          </a:prstGeom>
          <a:solidFill>
            <a:srgbClr val="F2F0E8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592824" y="1874520"/>
            <a:ext cx="109728" cy="502920"/>
          </a:xfrm>
          <a:prstGeom prst="rect">
            <a:avLst/>
          </a:prstGeom>
          <a:solidFill>
            <a:srgbClr val="F2F0E8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771132" y="1874520"/>
            <a:ext cx="109728" cy="502920"/>
          </a:xfrm>
          <a:prstGeom prst="rect">
            <a:avLst/>
          </a:prstGeom>
          <a:solidFill>
            <a:srgbClr val="F2F0E8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949440" y="1874520"/>
            <a:ext cx="109728" cy="502920"/>
          </a:xfrm>
          <a:prstGeom prst="rect">
            <a:avLst/>
          </a:prstGeom>
          <a:solidFill>
            <a:srgbClr val="F2F0E8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127748" y="1874520"/>
            <a:ext cx="109728" cy="502920"/>
          </a:xfrm>
          <a:prstGeom prst="rect">
            <a:avLst/>
          </a:prstGeom>
          <a:solidFill>
            <a:srgbClr val="F2F0E8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306056" y="1874520"/>
            <a:ext cx="109728" cy="502920"/>
          </a:xfrm>
          <a:prstGeom prst="rect">
            <a:avLst/>
          </a:prstGeom>
          <a:solidFill>
            <a:srgbClr val="F2F0E8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484364" y="1874520"/>
            <a:ext cx="109728" cy="502920"/>
          </a:xfrm>
          <a:prstGeom prst="rect">
            <a:avLst/>
          </a:prstGeom>
          <a:solidFill>
            <a:srgbClr val="F2F0E8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662672" y="1874520"/>
            <a:ext cx="109728" cy="502920"/>
          </a:xfrm>
          <a:prstGeom prst="rect">
            <a:avLst/>
          </a:prstGeom>
          <a:solidFill>
            <a:srgbClr val="F2F0E8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840980" y="1874520"/>
            <a:ext cx="109728" cy="502920"/>
          </a:xfrm>
          <a:prstGeom prst="rect">
            <a:avLst/>
          </a:prstGeom>
          <a:solidFill>
            <a:srgbClr val="F2F0E8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019288" y="1874520"/>
            <a:ext cx="109728" cy="502920"/>
          </a:xfrm>
          <a:prstGeom prst="rect">
            <a:avLst/>
          </a:prstGeom>
          <a:solidFill>
            <a:srgbClr val="F2F0E8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197596" y="1874520"/>
            <a:ext cx="109728" cy="502920"/>
          </a:xfrm>
          <a:prstGeom prst="rect">
            <a:avLst/>
          </a:prstGeom>
          <a:solidFill>
            <a:srgbClr val="F2F0E8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375904" y="1874520"/>
            <a:ext cx="109728" cy="502920"/>
          </a:xfrm>
          <a:prstGeom prst="rect">
            <a:avLst/>
          </a:prstGeom>
          <a:solidFill>
            <a:srgbClr val="F2F0E8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554212" y="1874520"/>
            <a:ext cx="109728" cy="502920"/>
          </a:xfrm>
          <a:prstGeom prst="rect">
            <a:avLst/>
          </a:prstGeom>
          <a:solidFill>
            <a:srgbClr val="F2F0E8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732520" y="1874520"/>
            <a:ext cx="109728" cy="502920"/>
          </a:xfrm>
          <a:prstGeom prst="rect">
            <a:avLst/>
          </a:prstGeom>
          <a:solidFill>
            <a:srgbClr val="F2F0E8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910828" y="1874520"/>
            <a:ext cx="109728" cy="502920"/>
          </a:xfrm>
          <a:prstGeom prst="rect">
            <a:avLst/>
          </a:prstGeom>
          <a:solidFill>
            <a:srgbClr val="F2F0E8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089136" y="1874520"/>
            <a:ext cx="109728" cy="502920"/>
          </a:xfrm>
          <a:prstGeom prst="rect">
            <a:avLst/>
          </a:prstGeom>
          <a:solidFill>
            <a:srgbClr val="F2F0E8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267444" y="1874520"/>
            <a:ext cx="109728" cy="502920"/>
          </a:xfrm>
          <a:prstGeom prst="rect">
            <a:avLst/>
          </a:prstGeom>
          <a:solidFill>
            <a:srgbClr val="F2F0E8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445752" y="1874520"/>
            <a:ext cx="109728" cy="502920"/>
          </a:xfrm>
          <a:prstGeom prst="rect">
            <a:avLst/>
          </a:prstGeom>
          <a:solidFill>
            <a:srgbClr val="F2F0E8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624060" y="1874520"/>
            <a:ext cx="109728" cy="502920"/>
          </a:xfrm>
          <a:prstGeom prst="rect">
            <a:avLst/>
          </a:prstGeom>
          <a:solidFill>
            <a:srgbClr val="F2F0E8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802368" y="1874520"/>
            <a:ext cx="109728" cy="502920"/>
          </a:xfrm>
          <a:prstGeom prst="rect">
            <a:avLst/>
          </a:prstGeom>
          <a:solidFill>
            <a:srgbClr val="F2F0E8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980676" y="1874520"/>
            <a:ext cx="109728" cy="502920"/>
          </a:xfrm>
          <a:prstGeom prst="rect">
            <a:avLst/>
          </a:prstGeom>
          <a:solidFill>
            <a:srgbClr val="F2F0E8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0158984" y="1874520"/>
            <a:ext cx="109728" cy="502920"/>
          </a:xfrm>
          <a:prstGeom prst="rect">
            <a:avLst/>
          </a:prstGeom>
          <a:solidFill>
            <a:srgbClr val="F2F0E8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0337292" y="1874520"/>
            <a:ext cx="109728" cy="502920"/>
          </a:xfrm>
          <a:prstGeom prst="rect">
            <a:avLst/>
          </a:prstGeom>
          <a:solidFill>
            <a:srgbClr val="F2F0E8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0515600" y="1874520"/>
            <a:ext cx="109728" cy="502920"/>
          </a:xfrm>
          <a:prstGeom prst="rect">
            <a:avLst/>
          </a:prstGeom>
          <a:solidFill>
            <a:srgbClr val="F2F0E8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693908" y="1874520"/>
            <a:ext cx="109728" cy="502920"/>
          </a:xfrm>
          <a:prstGeom prst="rect">
            <a:avLst/>
          </a:prstGeom>
          <a:solidFill>
            <a:srgbClr val="F2F0E8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0872216" y="1874520"/>
            <a:ext cx="109728" cy="502920"/>
          </a:xfrm>
          <a:prstGeom prst="rect">
            <a:avLst/>
          </a:prstGeom>
          <a:solidFill>
            <a:srgbClr val="F2F0E8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1050524" y="1874520"/>
            <a:ext cx="109728" cy="502920"/>
          </a:xfrm>
          <a:prstGeom prst="rect">
            <a:avLst/>
          </a:prstGeom>
          <a:solidFill>
            <a:srgbClr val="F2F0E8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1228832" y="1874520"/>
            <a:ext cx="109728" cy="502920"/>
          </a:xfrm>
          <a:prstGeom prst="rect">
            <a:avLst/>
          </a:prstGeom>
          <a:solidFill>
            <a:srgbClr val="F2F0E8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377440" y="3337560"/>
            <a:ext cx="777240" cy="502920"/>
          </a:xfrm>
          <a:prstGeom prst="roundRect">
            <a:avLst>
              <a:gd name="adj" fmla="val 14545"/>
            </a:avLst>
          </a:prstGeom>
          <a:solidFill>
            <a:srgbClr val="F2F0E8"/>
          </a:solidFill>
          <a:ln w="20320">
            <a:solidFill>
              <a:srgbClr val="788C5D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377440" y="3383280"/>
            <a:ext cx="777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88C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Dream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3657600" y="3337560"/>
            <a:ext cx="777240" cy="502920"/>
          </a:xfrm>
          <a:prstGeom prst="roundRect">
            <a:avLst>
              <a:gd name="adj" fmla="val 14545"/>
            </a:avLst>
          </a:prstGeom>
          <a:solidFill>
            <a:srgbClr val="F2F0E8"/>
          </a:solidFill>
          <a:ln w="20320">
            <a:solidFill>
              <a:srgbClr val="788C5D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657600" y="3383280"/>
            <a:ext cx="777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88C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Dream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937760" y="3337560"/>
            <a:ext cx="777240" cy="502920"/>
          </a:xfrm>
          <a:prstGeom prst="roundRect">
            <a:avLst>
              <a:gd name="adj" fmla="val 14545"/>
            </a:avLst>
          </a:prstGeom>
          <a:solidFill>
            <a:srgbClr val="F2F0E8"/>
          </a:solidFill>
          <a:ln w="20320">
            <a:solidFill>
              <a:srgbClr val="788C5D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937760" y="3383280"/>
            <a:ext cx="777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88C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Dream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6217920" y="3337560"/>
            <a:ext cx="777240" cy="502920"/>
          </a:xfrm>
          <a:prstGeom prst="roundRect">
            <a:avLst>
              <a:gd name="adj" fmla="val 14545"/>
            </a:avLst>
          </a:prstGeom>
          <a:solidFill>
            <a:srgbClr val="F2F0E8"/>
          </a:solidFill>
          <a:ln w="20320">
            <a:solidFill>
              <a:srgbClr val="788C5D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217920" y="3383280"/>
            <a:ext cx="777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88C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Dream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7498080" y="3337560"/>
            <a:ext cx="777240" cy="502920"/>
          </a:xfrm>
          <a:prstGeom prst="roundRect">
            <a:avLst>
              <a:gd name="adj" fmla="val 14545"/>
            </a:avLst>
          </a:prstGeom>
          <a:solidFill>
            <a:srgbClr val="F2F0E8"/>
          </a:solidFill>
          <a:ln w="20320">
            <a:solidFill>
              <a:srgbClr val="788C5D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498080" y="3383280"/>
            <a:ext cx="777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88C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Dream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8778240" y="3337560"/>
            <a:ext cx="777240" cy="502920"/>
          </a:xfrm>
          <a:prstGeom prst="roundRect">
            <a:avLst>
              <a:gd name="adj" fmla="val 14545"/>
            </a:avLst>
          </a:prstGeom>
          <a:solidFill>
            <a:srgbClr val="F2F0E8"/>
          </a:solidFill>
          <a:ln w="20320">
            <a:solidFill>
              <a:srgbClr val="788C5D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8778240" y="3383280"/>
            <a:ext cx="777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88C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Dream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10058400" y="3337560"/>
            <a:ext cx="777240" cy="502920"/>
          </a:xfrm>
          <a:prstGeom prst="roundRect">
            <a:avLst>
              <a:gd name="adj" fmla="val 14545"/>
            </a:avLst>
          </a:prstGeom>
          <a:solidFill>
            <a:srgbClr val="F2F0E8"/>
          </a:solidFill>
          <a:ln w="20320">
            <a:solidFill>
              <a:srgbClr val="788C5D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0058400" y="3383280"/>
            <a:ext cx="777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88C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Dream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2743200" y="4800600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F2F0E8"/>
          </a:solidFill>
          <a:ln w="20320">
            <a:solidFill>
              <a:srgbClr val="6A9BCC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2743200" y="486460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A9B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Meta-cycle PR review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7315200" y="480060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F2F0E8"/>
          </a:solidFill>
          <a:ln w="20320">
            <a:solidFill>
              <a:srgbClr val="6A9BCC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7315200" y="48646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A9B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Calibration audit + scaffold edit</a:t>
            </a:r>
            <a:endParaRPr lang="en-US" sz="1000" dirty="0"/>
          </a:p>
        </p:txBody>
      </p:sp>
      <p:sp>
        <p:nvSpPr>
          <p:cNvPr id="102" name="Text 100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19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CSIS | v0.1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 | STACK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Eight cooperating layers. L7 wraps every cross-layer call.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11247120" cy="502920"/>
          </a:xfrm>
          <a:prstGeom prst="rect">
            <a:avLst/>
          </a:prstGeom>
          <a:solidFill>
            <a:srgbClr val="F2F0E8"/>
          </a:solidFill>
          <a:ln w="22860">
            <a:solidFill>
              <a:srgbClr val="D977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47672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L7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94767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Constitutional safety envelope | corrigibility | capability gating | tripwires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11247120" cy="502920"/>
          </a:xfrm>
          <a:prstGeom prst="rect">
            <a:avLst/>
          </a:prstGeom>
          <a:solidFill>
            <a:srgbClr val="FAF9F5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496312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L6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249631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Recursive meta-improvement | bounded depth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971800"/>
            <a:ext cx="11247120" cy="502920"/>
          </a:xfrm>
          <a:prstGeom prst="rect">
            <a:avLst/>
          </a:prstGeom>
          <a:solidFill>
            <a:srgbClr val="FAF9F5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044952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L5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304495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Improvement loop | skill compilation | DPO/RLAIF | verified gains only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520440"/>
            <a:ext cx="11247120" cy="502920"/>
          </a:xfrm>
          <a:prstGeom prst="rect">
            <a:avLst/>
          </a:prstGeom>
          <a:solidFill>
            <a:srgbClr val="FAF9F5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593592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359359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Verification &amp; critic stack | graders | debate | replication | calibration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069080"/>
            <a:ext cx="11247120" cy="502920"/>
          </a:xfrm>
          <a:prstGeom prst="rect">
            <a:avLst/>
          </a:prstGeom>
          <a:solidFill>
            <a:srgbClr val="FAF9F5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142232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41422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Curiosity &amp; goal generation | frontier maps | expected info gain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617720"/>
            <a:ext cx="11247120" cy="502920"/>
          </a:xfrm>
          <a:prstGeom prst="rect">
            <a:avLst/>
          </a:prstGeom>
          <a:solidFill>
            <a:srgbClr val="FAF9F5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690872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469087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Memory hierarchy | working | episodic | semantic | procedural | causal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5166360"/>
            <a:ext cx="11247120" cy="502920"/>
          </a:xfrm>
          <a:prstGeom prst="rect">
            <a:avLst/>
          </a:prstGeom>
          <a:solidFill>
            <a:srgbClr val="FAF9F5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5239512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L1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71600" y="523951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Agent runtime | long-lived loops | multi-agent organization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5715000"/>
            <a:ext cx="11247120" cy="502920"/>
          </a:xfrm>
          <a:prstGeom prst="rect">
            <a:avLst/>
          </a:prstGeom>
          <a:solidFill>
            <a:srgbClr val="FAF9F5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5788152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L0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71600" y="578815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Substrate | sandboxed compute | vector/graph stores | immutable event log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19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CSIS | v0.1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 | THE LOOP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Eight steps. Two are hard gates: VERIFY and AUDIT.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120640" y="2084832"/>
            <a:ext cx="1828800" cy="594360"/>
          </a:xfrm>
          <a:prstGeom prst="ellipse">
            <a:avLst/>
          </a:prstGeom>
          <a:solidFill>
            <a:srgbClr val="F2F0E8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0" y="208483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| Observe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612164" y="2593693"/>
            <a:ext cx="1828800" cy="594360"/>
          </a:xfrm>
          <a:prstGeom prst="ellipse">
            <a:avLst/>
          </a:prstGeom>
          <a:solidFill>
            <a:srgbClr val="F2F0E8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12164" y="2593693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| Frontier scan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058400" y="3822192"/>
            <a:ext cx="1828800" cy="594360"/>
          </a:xfrm>
          <a:prstGeom prst="ellipse">
            <a:avLst/>
          </a:prstGeom>
          <a:solidFill>
            <a:srgbClr val="F2F0E8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0" y="382219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| Plan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12164" y="5050691"/>
            <a:ext cx="1828800" cy="594360"/>
          </a:xfrm>
          <a:prstGeom prst="ellipse">
            <a:avLst/>
          </a:prstGeom>
          <a:solidFill>
            <a:srgbClr val="F2F0E8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12164" y="5050691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| Act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120640" y="5559552"/>
            <a:ext cx="1828800" cy="594360"/>
          </a:xfrm>
          <a:prstGeom prst="ellipse">
            <a:avLst/>
          </a:prstGeom>
          <a:solidFill>
            <a:srgbClr val="F2F0E8"/>
          </a:solidFill>
          <a:ln w="27940">
            <a:solidFill>
              <a:srgbClr val="788C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555955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88C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| VERIFY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629116" y="5050691"/>
            <a:ext cx="1828800" cy="594360"/>
          </a:xfrm>
          <a:prstGeom prst="ellipse">
            <a:avLst/>
          </a:prstGeom>
          <a:solidFill>
            <a:srgbClr val="F2F0E8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29116" y="5050691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| Consolidate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82880" y="3822192"/>
            <a:ext cx="1828800" cy="594360"/>
          </a:xfrm>
          <a:prstGeom prst="ellipse">
            <a:avLst/>
          </a:prstGeom>
          <a:solidFill>
            <a:srgbClr val="F2F0E8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" y="382219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| Improve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629116" y="2593693"/>
            <a:ext cx="1828800" cy="594360"/>
          </a:xfrm>
          <a:prstGeom prst="ellipse">
            <a:avLst/>
          </a:prstGeom>
          <a:solidFill>
            <a:srgbClr val="F2F0E8"/>
          </a:solidFill>
          <a:ln w="27940">
            <a:solidFill>
              <a:srgbClr val="788C5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29116" y="2593693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88C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| AUDIT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206240" y="3749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Continuous | 24/7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291840" y="4160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8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failure at gate =&gt; rollback + signed incident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19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CSIS | v0.1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07 | ORGANIZATION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small society of role-specialized agents.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5486400" cy="914400"/>
          </a:xfrm>
          <a:prstGeom prst="rect">
            <a:avLst/>
          </a:prstGeom>
          <a:solidFill>
            <a:srgbClr val="F2F0E8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83080"/>
            <a:ext cx="54864" cy="9144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89280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Researcher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2860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A5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Hypotheses | lit | experiments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0" y="2075688"/>
            <a:ext cx="640080" cy="329184"/>
          </a:xfrm>
          <a:prstGeom prst="roundRect">
            <a:avLst>
              <a:gd name="adj" fmla="val 50000"/>
            </a:avLst>
          </a:prstGeom>
          <a:solidFill>
            <a:srgbClr val="FAF9F5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0" y="2075688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783080"/>
            <a:ext cx="5486400" cy="914400"/>
          </a:xfrm>
          <a:prstGeom prst="rect">
            <a:avLst/>
          </a:prstGeom>
          <a:solidFill>
            <a:srgbClr val="F2F0E8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26480" y="1783080"/>
            <a:ext cx="54864" cy="914400"/>
          </a:xfrm>
          <a:prstGeom prst="rect">
            <a:avLst/>
          </a:prstGeom>
          <a:solidFill>
            <a:srgbClr val="6A9BCC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189280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Builder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55080" y="22860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A5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Sandboxed code &amp; instrumentation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789920" y="2075688"/>
            <a:ext cx="640080" cy="329184"/>
          </a:xfrm>
          <a:prstGeom prst="roundRect">
            <a:avLst>
              <a:gd name="adj" fmla="val 50000"/>
            </a:avLst>
          </a:prstGeom>
          <a:solidFill>
            <a:srgbClr val="FAF9F5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89920" y="2075688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A9B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862072"/>
            <a:ext cx="5486400" cy="914400"/>
          </a:xfrm>
          <a:prstGeom prst="rect">
            <a:avLst/>
          </a:prstGeom>
          <a:solidFill>
            <a:srgbClr val="F2F0E8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862072"/>
            <a:ext cx="54864" cy="9144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29718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Critic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5800" y="336499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A5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Adversarial review | falsification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120640" y="3154680"/>
            <a:ext cx="640080" cy="329184"/>
          </a:xfrm>
          <a:prstGeom prst="roundRect">
            <a:avLst>
              <a:gd name="adj" fmla="val 50000"/>
            </a:avLst>
          </a:prstGeom>
          <a:solidFill>
            <a:srgbClr val="FAF9F5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0" y="3154680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26480" y="2862072"/>
            <a:ext cx="5486400" cy="914400"/>
          </a:xfrm>
          <a:prstGeom prst="rect">
            <a:avLst/>
          </a:prstGeom>
          <a:solidFill>
            <a:srgbClr val="F2F0E8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26480" y="2862072"/>
            <a:ext cx="54864" cy="914400"/>
          </a:xfrm>
          <a:prstGeom prst="rect">
            <a:avLst/>
          </a:prstGeom>
          <a:solidFill>
            <a:srgbClr val="6A9BCC"/>
          </a:solidFill>
          <a:ln/>
        </p:spPr>
      </p:sp>
      <p:sp>
        <p:nvSpPr>
          <p:cNvPr id="24" name="Text 22"/>
          <p:cNvSpPr/>
          <p:nvPr/>
        </p:nvSpPr>
        <p:spPr>
          <a:xfrm>
            <a:off x="6355080" y="29718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Verifier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55080" y="336499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A5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Graders | replication | calibration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0789920" y="3154680"/>
            <a:ext cx="640080" cy="329184"/>
          </a:xfrm>
          <a:prstGeom prst="roundRect">
            <a:avLst>
              <a:gd name="adj" fmla="val 50000"/>
            </a:avLst>
          </a:prstGeom>
          <a:solidFill>
            <a:srgbClr val="FAF9F5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789920" y="3154680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A9B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T1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941064"/>
            <a:ext cx="5486400" cy="914400"/>
          </a:xfrm>
          <a:prstGeom prst="rect">
            <a:avLst/>
          </a:prstGeom>
          <a:solidFill>
            <a:srgbClr val="F2F0E8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941064"/>
            <a:ext cx="54864" cy="9144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405079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Librarian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85800" y="4443984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A5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Memory consolidation &amp; decay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120640" y="4233672"/>
            <a:ext cx="640080" cy="329184"/>
          </a:xfrm>
          <a:prstGeom prst="roundRect">
            <a:avLst>
              <a:gd name="adj" fmla="val 50000"/>
            </a:avLst>
          </a:prstGeom>
          <a:solidFill>
            <a:srgbClr val="FAF9F5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20640" y="4233672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26480" y="3941064"/>
            <a:ext cx="5486400" cy="914400"/>
          </a:xfrm>
          <a:prstGeom prst="rect">
            <a:avLst/>
          </a:prstGeom>
          <a:solidFill>
            <a:srgbClr val="F2F0E8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26480" y="3941064"/>
            <a:ext cx="54864" cy="9144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6" name="Text 34"/>
          <p:cNvSpPr/>
          <p:nvPr/>
        </p:nvSpPr>
        <p:spPr>
          <a:xfrm>
            <a:off x="6355080" y="405079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Planner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355080" y="4443984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A5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Compute &amp; risk budgets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0789920" y="4233672"/>
            <a:ext cx="640080" cy="329184"/>
          </a:xfrm>
          <a:prstGeom prst="roundRect">
            <a:avLst>
              <a:gd name="adj" fmla="val 50000"/>
            </a:avLst>
          </a:prstGeom>
          <a:solidFill>
            <a:srgbClr val="FAF9F5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789920" y="4233672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T0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5020056"/>
            <a:ext cx="5486400" cy="914400"/>
          </a:xfrm>
          <a:prstGeom prst="rect">
            <a:avLst/>
          </a:prstGeom>
          <a:solidFill>
            <a:srgbClr val="F2F0E8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" y="5020056"/>
            <a:ext cx="54864" cy="914400"/>
          </a:xfrm>
          <a:prstGeom prst="rect">
            <a:avLst/>
          </a:prstGeom>
          <a:solidFill>
            <a:srgbClr val="788C5D"/>
          </a:solidFill>
          <a:ln/>
        </p:spPr>
      </p:sp>
      <p:sp>
        <p:nvSpPr>
          <p:cNvPr id="42" name="Text 40"/>
          <p:cNvSpPr/>
          <p:nvPr/>
        </p:nvSpPr>
        <p:spPr>
          <a:xfrm>
            <a:off x="685800" y="5129784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Auditor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85800" y="5522976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A5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Independent | why-doc | signs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120640" y="5312664"/>
            <a:ext cx="640080" cy="329184"/>
          </a:xfrm>
          <a:prstGeom prst="roundRect">
            <a:avLst>
              <a:gd name="adj" fmla="val 50000"/>
            </a:avLst>
          </a:prstGeom>
          <a:solidFill>
            <a:srgbClr val="FAF9F5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20640" y="5312664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88C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T0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126480" y="5020056"/>
            <a:ext cx="5486400" cy="914400"/>
          </a:xfrm>
          <a:prstGeom prst="rect">
            <a:avLst/>
          </a:prstGeom>
          <a:solidFill>
            <a:srgbClr val="F2F0E8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126480" y="5020056"/>
            <a:ext cx="54864" cy="914400"/>
          </a:xfrm>
          <a:prstGeom prst="rect">
            <a:avLst/>
          </a:prstGeom>
          <a:solidFill>
            <a:srgbClr val="788C5D"/>
          </a:solidFill>
          <a:ln/>
        </p:spPr>
      </p:sp>
      <p:sp>
        <p:nvSpPr>
          <p:cNvPr id="48" name="Text 46"/>
          <p:cNvSpPr/>
          <p:nvPr/>
        </p:nvSpPr>
        <p:spPr>
          <a:xfrm>
            <a:off x="6355080" y="5129784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Overseer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355080" y="5522976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A5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Human | approves T3+ | owns shut-down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10789920" y="5312664"/>
            <a:ext cx="640080" cy="329184"/>
          </a:xfrm>
          <a:prstGeom prst="roundRect">
            <a:avLst>
              <a:gd name="adj" fmla="val 50000"/>
            </a:avLst>
          </a:prstGeom>
          <a:solidFill>
            <a:srgbClr val="FAF9F5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789920" y="5312664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88C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T4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/ 19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CSIS | v0.1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08 | MEMORY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Five tiers. Each with its own write, decay, and consolidation policy.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2194560" cy="2377440"/>
          </a:xfrm>
          <a:prstGeom prst="rect">
            <a:avLst/>
          </a:prstGeom>
          <a:solidFill>
            <a:srgbClr val="F2F0E8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57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4360" y="26974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5A5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Context window | scratchpad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seconds - minutes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88920" y="1783080"/>
            <a:ext cx="2194560" cy="2377440"/>
          </a:xfrm>
          <a:prstGeom prst="rect">
            <a:avLst/>
          </a:prstGeom>
          <a:solidFill>
            <a:srgbClr val="F2F0E8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88920" y="2057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Episodic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926080" y="26974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5A5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Vector + temporal index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88920" y="3657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hours - weeks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120640" y="1783080"/>
            <a:ext cx="2194560" cy="2377440"/>
          </a:xfrm>
          <a:prstGeom prst="rect">
            <a:avLst/>
          </a:prstGeom>
          <a:solidFill>
            <a:srgbClr val="F2F0E8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2057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Semantic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257800" y="26974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5A5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Knowledge graph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20640" y="3657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months - years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52360" y="1783080"/>
            <a:ext cx="2194560" cy="2377440"/>
          </a:xfrm>
          <a:prstGeom prst="rect">
            <a:avLst/>
          </a:prstGeom>
          <a:solidFill>
            <a:srgbClr val="F2F0E8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52360" y="2057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Procedural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589520" y="26974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5A5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Skill library | callable tools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52360" y="3657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curriculum-bound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784080" y="1783080"/>
            <a:ext cx="2194560" cy="2377440"/>
          </a:xfrm>
          <a:prstGeom prst="rect">
            <a:avLst/>
          </a:prstGeom>
          <a:solidFill>
            <a:srgbClr val="F2F0E8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84080" y="2057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Causal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921240" y="26974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5A5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Mechanism models | simulators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784080" y="3657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slow | audited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4348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8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consolidation flows &gt;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937760"/>
            <a:ext cx="11247120" cy="1463040"/>
          </a:xfrm>
          <a:prstGeom prst="rect">
            <a:avLst/>
          </a:prstGeom>
          <a:solidFill>
            <a:srgbClr val="F2F0E8"/>
          </a:solidFill>
          <a:ln w="19050">
            <a:solidFill>
              <a:srgbClr val="788C5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4937760"/>
            <a:ext cx="73152" cy="1463040"/>
          </a:xfrm>
          <a:prstGeom prst="rect">
            <a:avLst/>
          </a:prstGeom>
          <a:solidFill>
            <a:srgbClr val="788C5D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5029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88C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Sleep / consolidation = Anthropic Dreams.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31520" y="5394960"/>
            <a:ext cx="10972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 Dream takes a memory store + up to 100 sessions and produces a new, deduped, contradiction-resolved store. The input is never modified, so the Auditor can review before promotion. Reversibility for free - and the cognitive benefit of sleep without the alignment risk of unsupervised memory rewrites.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 / 19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CSIS | v0.1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09 | DREAMS PIPELINE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Dream per memory tier. Different cadences. Different instructions.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11247120" cy="713232"/>
          </a:xfrm>
          <a:prstGeom prst="rect">
            <a:avLst/>
          </a:prstGeom>
          <a:solidFill>
            <a:srgbClr val="F2F0E8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83080"/>
            <a:ext cx="73152" cy="713232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745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Dream -&gt; Episodic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023360" y="1947672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FAF9F5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0" y="194767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~4h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0" y="1947672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5A5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dedup | quarantine contradictions | surface surprises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624328"/>
            <a:ext cx="11247120" cy="713232"/>
          </a:xfrm>
          <a:prstGeom prst="rect">
            <a:avLst/>
          </a:prstGeom>
          <a:solidFill>
            <a:srgbClr val="F2F0E8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624328"/>
            <a:ext cx="73152" cy="713232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71576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Dream -&gt; Semantic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023360" y="278892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FAF9F5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0" y="27889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daily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0" y="278892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5A5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promote stable patterns | drop decayed edges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465576"/>
            <a:ext cx="11247120" cy="713232"/>
          </a:xfrm>
          <a:prstGeom prst="rect">
            <a:avLst/>
          </a:prstGeom>
          <a:solidFill>
            <a:srgbClr val="F2F0E8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465576"/>
            <a:ext cx="73152" cy="713232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557016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Dream -&gt; Procedural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023360" y="3630168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FAF9F5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0" y="363016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daily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69280" y="3630168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5A5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compile recurring sequences into named skills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306824"/>
            <a:ext cx="11247120" cy="713232"/>
          </a:xfrm>
          <a:prstGeom prst="rect">
            <a:avLst/>
          </a:prstGeom>
          <a:solidFill>
            <a:srgbClr val="F2F0E8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306824"/>
            <a:ext cx="73152" cy="713232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39826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Dream -&gt; Causal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023360" y="4471416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FAF9F5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23360" y="4471416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weekly | gated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69280" y="4471416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5A5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update mechanisms only with alt-explanation audit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5148072"/>
            <a:ext cx="11247120" cy="713232"/>
          </a:xfrm>
          <a:prstGeom prst="rect">
            <a:avLst/>
          </a:prstGeom>
          <a:solidFill>
            <a:srgbClr val="F2F0E8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5148072"/>
            <a:ext cx="73152" cy="713232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523951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Dream -&gt; Frontier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023360" y="5312664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FAF9F5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23360" y="5312664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~4h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669280" y="5312664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5A5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re-rank open questions | retire stale items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 / 19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CSIS | v0.1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 | VERIFICATION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Five-stage verification stack. Only verified gains land.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194560" cy="3200400"/>
          </a:xfrm>
          <a:prstGeom prst="rect">
            <a:avLst/>
          </a:prstGeom>
          <a:solidFill>
            <a:srgbClr val="F2F0E8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2194560" cy="4572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828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Programmatic graders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29184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C5A5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Tests | types | proofs.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C5A5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Mechanical errors.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88920" y="1828800"/>
            <a:ext cx="2194560" cy="3200400"/>
          </a:xfrm>
          <a:prstGeom prst="rect">
            <a:avLst/>
          </a:prstGeom>
          <a:solidFill>
            <a:srgbClr val="F2F0E8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88920" y="1828800"/>
            <a:ext cx="2194560" cy="4572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1" name="Text 9"/>
          <p:cNvSpPr/>
          <p:nvPr/>
        </p:nvSpPr>
        <p:spPr>
          <a:xfrm>
            <a:off x="2788920" y="1828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971800" y="24688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Adversarial critic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71800" y="329184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C5A5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Falsification attempts.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C5A5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Spec gaming, weak claims.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20640" y="1828800"/>
            <a:ext cx="2194560" cy="3200400"/>
          </a:xfrm>
          <a:prstGeom prst="rect">
            <a:avLst/>
          </a:prstGeom>
          <a:solidFill>
            <a:srgbClr val="F2F0E8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1828800"/>
            <a:ext cx="2194560" cy="4572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0" y="1828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303520" y="24688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Debate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03520" y="329184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C5A5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Two agents, opposite sides.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C5A5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Plausible-but-wrong reasoning.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452360" y="1828800"/>
            <a:ext cx="2194560" cy="3200400"/>
          </a:xfrm>
          <a:prstGeom prst="rect">
            <a:avLst/>
          </a:prstGeom>
          <a:solidFill>
            <a:srgbClr val="F2F0E8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52360" y="1828800"/>
            <a:ext cx="2194560" cy="4572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21" name="Text 19"/>
          <p:cNvSpPr/>
          <p:nvPr/>
        </p:nvSpPr>
        <p:spPr>
          <a:xfrm>
            <a:off x="7452360" y="1828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635240" y="24688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Replication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635240" y="329184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C5A5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Independent re-run.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C5A5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Hidden state, contamination.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784080" y="1828800"/>
            <a:ext cx="2194560" cy="3200400"/>
          </a:xfrm>
          <a:prstGeom prst="rect">
            <a:avLst/>
          </a:prstGeom>
          <a:solidFill>
            <a:srgbClr val="F2F0E8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784080" y="1828800"/>
            <a:ext cx="2194560" cy="4572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26" name="Text 24"/>
          <p:cNvSpPr/>
          <p:nvPr/>
        </p:nvSpPr>
        <p:spPr>
          <a:xfrm>
            <a:off x="9784080" y="1828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966960" y="24688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Calibration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966960" y="329184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C5A5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Brier / log-loss.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C5A5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Overconfidence drift.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5349240"/>
            <a:ext cx="11247120" cy="914400"/>
          </a:xfrm>
          <a:prstGeom prst="rect">
            <a:avLst/>
          </a:prstGeom>
          <a:solidFill>
            <a:srgbClr val="F2F0E8"/>
          </a:solidFill>
          <a:ln w="19050">
            <a:solidFill>
              <a:srgbClr val="D9775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5349240"/>
            <a:ext cx="73152" cy="9144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54406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i="1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Hard rule: verified-gain certificate must be signed by the Verifier on a different model checkpoint than the agent that produced the gain.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 / 19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CSIS | v0.1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 | IMPROVEMENT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Improvement stack - cheap &amp; safe -&gt; expensive &amp; gated.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11247120" cy="411480"/>
          </a:xfrm>
          <a:prstGeom prst="rect">
            <a:avLst/>
          </a:prstGeom>
          <a:solidFill>
            <a:srgbClr val="F2F0E8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280160" y="1828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5A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Mechanism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120640" y="1828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5A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Examples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0" y="1828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5A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Reversibility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11247120" cy="457200"/>
          </a:xfrm>
          <a:prstGeom prst="rect">
            <a:avLst/>
          </a:prstGeom>
          <a:solidFill>
            <a:srgbClr val="FAF9F5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2860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8016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In-context reflection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20640" y="22860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5A5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Reflexion | Self-Refine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0" y="22860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88C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trivial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11247120" cy="457200"/>
          </a:xfrm>
          <a:prstGeom prst="rect">
            <a:avLst/>
          </a:prstGeom>
          <a:solidFill>
            <a:srgbClr val="FAF9F5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7889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80160" y="2788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Skill library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120640" y="2788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5A5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Voyager | Toolformer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0" y="27889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88C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easy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246120"/>
            <a:ext cx="11247120" cy="457200"/>
          </a:xfrm>
          <a:prstGeom prst="rect">
            <a:avLst/>
          </a:prstGeom>
          <a:solidFill>
            <a:srgbClr val="FAF9F5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2918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80160" y="3291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Prompt / scaffold search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20640" y="32918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5A5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DSPy | TextGrad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0" y="32918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88C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easy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749040"/>
            <a:ext cx="11247120" cy="457200"/>
          </a:xfrm>
          <a:prstGeom prst="rect">
            <a:avLst/>
          </a:prstGeom>
          <a:solidFill>
            <a:srgbClr val="FAF9F5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7947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80160" y="3794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Synthetic curriculum + DPO/RLAIF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120640" y="37947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5A5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Self-Rewarding LMs | Constitutional AI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058400" y="37947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9B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medium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251960"/>
            <a:ext cx="11247120" cy="457200"/>
          </a:xfrm>
          <a:prstGeom prst="rect">
            <a:avLst/>
          </a:prstGeom>
          <a:solidFill>
            <a:srgbClr val="FAF9F5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2976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280160" y="4297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Self-distillation from verified traces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120640" y="4297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5A5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STaR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058400" y="4297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9B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medium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4754880"/>
            <a:ext cx="11247120" cy="457200"/>
          </a:xfrm>
          <a:prstGeom prst="rect">
            <a:avLst/>
          </a:prstGeom>
          <a:solidFill>
            <a:srgbClr val="FAF9F5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48006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I6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280160" y="4800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Continued pretraining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120640" y="48006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5A5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synthetic textbooks-style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058400" y="4800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hard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57200" y="5257800"/>
            <a:ext cx="11247120" cy="457200"/>
          </a:xfrm>
          <a:prstGeom prst="rect">
            <a:avLst/>
          </a:prstGeom>
          <a:solidFill>
            <a:srgbClr val="FAF9F5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53035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I7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280160" y="5303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Architecture / training-procedure search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120640" y="53035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5A5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 Scientist | NAS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0058400" y="53035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hard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 / 19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CSIS | v0.1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 | META-IMPROVEMENT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layer that earns the most safety scaffolding.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Meta-Improver edits process, not weights.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5A5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Curriculum, critic prompts, eval harnesses, scaffolds, budget allocations.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9718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Every meta-edit is a PR against a versioned config repo.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3474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Each edit predicts capability gain AND safety effect - both falsifiable.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0120" y="3977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 runs against an alignment regression suite (sycophancy, sandbagging, drift).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434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4480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Net regression on any safety metric automatically blocks the PR.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937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0120" y="4983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Merging requires Auditor sign-off and (above tier threshold) human approval.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5852160"/>
            <a:ext cx="11247120" cy="502920"/>
          </a:xfrm>
          <a:prstGeom prst="rect">
            <a:avLst/>
          </a:prstGeom>
          <a:solidFill>
            <a:srgbClr val="F2F0E8"/>
          </a:solidFill>
          <a:ln w="19050">
            <a:solidFill>
              <a:srgbClr val="788C5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5852160"/>
            <a:ext cx="73152" cy="502920"/>
          </a:xfrm>
          <a:prstGeom prst="rect">
            <a:avLst/>
          </a:prstGeom>
          <a:solidFill>
            <a:srgbClr val="788C5D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58978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788C5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Recursion is bounded to one level. Meta-of-meta requires explicit human escalation.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 / 19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CSIS | v0.1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 | SAFETY (LOAD-BEARING)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Safety properties are structural. Remove them and the system stops.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3657600" cy="2011680"/>
          </a:xfrm>
          <a:prstGeom prst="rect">
            <a:avLst/>
          </a:prstGeom>
          <a:solidFill>
            <a:srgbClr val="F2F0E8"/>
          </a:solidFill>
          <a:ln w="17780">
            <a:solidFill>
              <a:srgbClr val="788C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99339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88C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Constitutional substrate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251460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Helpful | honest | harmless + corrigibility (Soares 2015) and shut-down acceptance (Bai 2022).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97680" y="1828800"/>
            <a:ext cx="3657600" cy="2011680"/>
          </a:xfrm>
          <a:prstGeom prst="rect">
            <a:avLst/>
          </a:prstGeom>
          <a:solidFill>
            <a:srgbClr val="F2F0E8"/>
          </a:solidFill>
          <a:ln w="17780">
            <a:solidFill>
              <a:srgbClr val="788C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0" y="199339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88C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Tripwires &amp; circuit breakers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26280" y="251460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Capability, behavioral, and SAE-feature distributional tripwires (Templeton 2024).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38160" y="1828800"/>
            <a:ext cx="3657600" cy="2011680"/>
          </a:xfrm>
          <a:prstGeom prst="rect">
            <a:avLst/>
          </a:prstGeom>
          <a:solidFill>
            <a:srgbClr val="F2F0E8"/>
          </a:solidFill>
          <a:ln w="17780">
            <a:solidFill>
              <a:srgbClr val="788C5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66760" y="199339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88C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Reversibility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366760" y="251460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Immutable event log + content-addressed checkpoints. Rollback as first-class op.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023360"/>
            <a:ext cx="3657600" cy="2011680"/>
          </a:xfrm>
          <a:prstGeom prst="rect">
            <a:avLst/>
          </a:prstGeom>
          <a:solidFill>
            <a:srgbClr val="F2F0E8"/>
          </a:solidFill>
          <a:ln w="17780">
            <a:solidFill>
              <a:srgbClr val="788C5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18795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88C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Shut-downability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470916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halt() is enforced at L0 substrate, not asked of the agent.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97680" y="4023360"/>
            <a:ext cx="3657600" cy="2011680"/>
          </a:xfrm>
          <a:prstGeom prst="rect">
            <a:avLst/>
          </a:prstGeom>
          <a:solidFill>
            <a:srgbClr val="F2F0E8"/>
          </a:solidFill>
          <a:ln w="17780">
            <a:solidFill>
              <a:srgbClr val="788C5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418795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88C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Why-Audit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26280" y="470916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 human-readable why-doc -&gt; no land. Auditor on a separate checkpoint.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38160" y="4023360"/>
            <a:ext cx="3657600" cy="2011680"/>
          </a:xfrm>
          <a:prstGeom prst="rect">
            <a:avLst/>
          </a:prstGeom>
          <a:solidFill>
            <a:srgbClr val="F2F0E8"/>
          </a:solidFill>
          <a:ln w="17780">
            <a:solidFill>
              <a:srgbClr val="788C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66760" y="418795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88C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Interpretability budget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66760" y="470916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Dedicated continuous compute. Drift in safety-relevant SAE features = tripwire.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 / 19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CSIS | v0.1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 | CAPABILITY TIERS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action has a tier. Higher tiers =&gt; stronger sandbox + more oversight.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1247120" cy="411480"/>
          </a:xfrm>
          <a:prstGeom prst="rect">
            <a:avLst/>
          </a:prstGeom>
          <a:solidFill>
            <a:srgbClr val="F2F0E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74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280160" y="1874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5A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Scope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0" y="1874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5A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Sandbox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869680" y="1874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5A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Oversight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11247120" cy="713232"/>
          </a:xfrm>
          <a:prstGeom prst="rect">
            <a:avLst/>
          </a:prstGeom>
          <a:solidFill>
            <a:srgbClr val="FAF9F5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496312"/>
            <a:ext cx="548640" cy="384048"/>
          </a:xfrm>
          <a:prstGeom prst="roundRect">
            <a:avLst>
              <a:gd name="adj" fmla="val 50000"/>
            </a:avLst>
          </a:prstGeom>
          <a:solidFill>
            <a:srgbClr val="F2F0E8"/>
          </a:solidFill>
          <a:ln w="19050">
            <a:solidFill>
              <a:srgbClr val="788C5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496312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88C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249631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Read-only research | internal reasoning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92240" y="249631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A5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 sandbox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869680" y="249631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A5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logged only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11247120" cy="713232"/>
          </a:xfrm>
          <a:prstGeom prst="rect">
            <a:avLst/>
          </a:prstGeom>
          <a:solidFill>
            <a:srgbClr val="FAF9F5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273552"/>
            <a:ext cx="548640" cy="384048"/>
          </a:xfrm>
          <a:prstGeom prst="roundRect">
            <a:avLst>
              <a:gd name="adj" fmla="val 50000"/>
            </a:avLst>
          </a:prstGeom>
          <a:solidFill>
            <a:srgbClr val="F2F0E8"/>
          </a:solidFill>
          <a:ln w="19050">
            <a:solidFill>
              <a:srgbClr val="6A9B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273552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A9B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80160" y="327355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Sandboxed code | internal experiments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92240" y="327355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A5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microVM | no network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869680" y="327355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A5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Auditor sign-off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886200"/>
            <a:ext cx="11247120" cy="713232"/>
          </a:xfrm>
          <a:prstGeom prst="rect">
            <a:avLst/>
          </a:prstGeom>
          <a:solidFill>
            <a:srgbClr val="FAF9F5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4050792"/>
            <a:ext cx="548640" cy="384048"/>
          </a:xfrm>
          <a:prstGeom prst="roundRect">
            <a:avLst>
              <a:gd name="adj" fmla="val 50000"/>
            </a:avLst>
          </a:prstGeom>
          <a:solidFill>
            <a:srgbClr val="F2F0E8"/>
          </a:solidFill>
          <a:ln w="19050">
            <a:solidFill>
              <a:srgbClr val="F2C9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050792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C94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80160" y="405079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Network-allowed experiments (whitelisted)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92240" y="405079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A5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microVM | egress filter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869680" y="405079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A5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Auditor + classifier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663440"/>
            <a:ext cx="11247120" cy="713232"/>
          </a:xfrm>
          <a:prstGeom prst="rect">
            <a:avLst/>
          </a:prstGeom>
          <a:solidFill>
            <a:srgbClr val="FAF9F5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" y="4828032"/>
            <a:ext cx="548640" cy="384048"/>
          </a:xfrm>
          <a:prstGeom prst="roundRect">
            <a:avLst>
              <a:gd name="adj" fmla="val 50000"/>
            </a:avLst>
          </a:prstGeom>
          <a:solidFill>
            <a:srgbClr val="F2F0E8"/>
          </a:solidFill>
          <a:ln w="19050">
            <a:solidFill>
              <a:srgbClr val="D9775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828032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280160" y="482803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Persistent state changes outside sandbox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92240" y="482803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A5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production gated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869680" y="482803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A5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human-on-the-loop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5440680"/>
            <a:ext cx="11247120" cy="713232"/>
          </a:xfrm>
          <a:prstGeom prst="rect">
            <a:avLst/>
          </a:prstGeom>
          <a:solidFill>
            <a:srgbClr val="FAF9F5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" y="5605272"/>
            <a:ext cx="548640" cy="384048"/>
          </a:xfrm>
          <a:prstGeom prst="roundRect">
            <a:avLst>
              <a:gd name="adj" fmla="val 50000"/>
            </a:avLst>
          </a:prstGeom>
          <a:solidFill>
            <a:srgbClr val="F2F0E8"/>
          </a:solidFill>
          <a:ln w="19050">
            <a:solidFill>
              <a:srgbClr val="EB57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5605272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B5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T4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280160" y="560527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Self-modification of weights / scaffolds / constitution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492240" y="560527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A5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offline only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869680" y="560527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A5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multi-party human approval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15 / 19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CSIS | v0.1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15 | IMPLEMENTATION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Built on Anthropic's Managed Agents stack - not a parallel universe.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11247120" cy="420624"/>
          </a:xfrm>
          <a:prstGeom prst="rect">
            <a:avLst/>
          </a:prstGeom>
          <a:solidFill>
            <a:srgbClr val="FAF9F5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4708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5A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L0 | Substrate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937760" y="1847088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-&gt;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0" y="1847088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Environment + sandboxed tools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258568"/>
            <a:ext cx="11247120" cy="420624"/>
          </a:xfrm>
          <a:prstGeom prst="rect">
            <a:avLst/>
          </a:prstGeom>
          <a:solidFill>
            <a:srgbClr val="FAF9F5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32257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5A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L1 | Agent runtime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2322576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-&gt;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03520" y="2322576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Session per role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734056"/>
            <a:ext cx="11247120" cy="420624"/>
          </a:xfrm>
          <a:prstGeom prst="rect">
            <a:avLst/>
          </a:prstGeom>
          <a:solidFill>
            <a:srgbClr val="FAF9F5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79806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5A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L2 | Memory hierarchy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2798064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-&gt;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03520" y="2798064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Memory Stores (one per tier)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209544"/>
            <a:ext cx="11247120" cy="420624"/>
          </a:xfrm>
          <a:prstGeom prst="rect">
            <a:avLst/>
          </a:prstGeom>
          <a:solidFill>
            <a:srgbClr val="FAF9F5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27355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5A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L3 | Curiosity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327355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-&gt;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03520" y="3273552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Researcher session + frontier-map memory store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685032"/>
            <a:ext cx="11247120" cy="420624"/>
          </a:xfrm>
          <a:prstGeom prst="rect">
            <a:avLst/>
          </a:prstGeom>
          <a:solidFill>
            <a:srgbClr val="FAF9F5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7490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5A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L4 | Verification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37760" y="37490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-&gt;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03520" y="374904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Verifier session on a different checkpoint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160520"/>
            <a:ext cx="11247120" cy="420624"/>
          </a:xfrm>
          <a:prstGeom prst="rect">
            <a:avLst/>
          </a:prstGeom>
          <a:solidFill>
            <a:srgbClr val="FAF9F5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22452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5A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L5 | Improvement (I1-I3)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37760" y="4224528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-&gt;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03520" y="4224528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Memory deltas + skill-library memory store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4636008"/>
            <a:ext cx="11247120" cy="420624"/>
          </a:xfrm>
          <a:prstGeom prst="rect">
            <a:avLst/>
          </a:prstGeom>
          <a:solidFill>
            <a:srgbClr val="F2F0E8"/>
          </a:solidFill>
          <a:ln w="20320">
            <a:solidFill>
              <a:srgbClr val="D9775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470001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Sleep / consolidation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37760" y="4700016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-&gt;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03520" y="4700016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DREAMS API (research preview)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57200" y="5111496"/>
            <a:ext cx="11247120" cy="420624"/>
          </a:xfrm>
          <a:prstGeom prst="rect">
            <a:avLst/>
          </a:prstGeom>
          <a:solidFill>
            <a:srgbClr val="FAF9F5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517550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5A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L6 | Meta-improvement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937760" y="5175504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-&gt;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303520" y="5175504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Versioned config repo + scheduled Dreams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57200" y="5586984"/>
            <a:ext cx="11247120" cy="420624"/>
          </a:xfrm>
          <a:prstGeom prst="rect">
            <a:avLst/>
          </a:prstGeom>
          <a:solidFill>
            <a:srgbClr val="FAF9F5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565099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5A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L7 | Safety envelope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937760" y="565099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-&gt;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303520" y="5650992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Constitutional prompts + classifier tools + RSP gates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16 / 19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CSIS | v0.1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16 | DEPLOYMENT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Concrete Phase-0 deployment - sessions, stores, tools.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11247120" cy="365760"/>
          </a:xfrm>
          <a:prstGeom prst="rect">
            <a:avLst/>
          </a:prstGeom>
          <a:solidFill>
            <a:srgbClr val="F2F0E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C5A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Session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0" y="1828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C5A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474720" y="1828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C5A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Memory stores attached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949440" y="1828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C5A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Tools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11247120" cy="502920"/>
          </a:xfrm>
          <a:prstGeom prst="rect">
            <a:avLst/>
          </a:prstGeom>
          <a:solidFill>
            <a:srgbClr val="FAF9F5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317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researcher-v1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0" y="23317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5A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0" y="23317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working, semantic, causal, frontier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49440" y="23317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web_search | lit_lookup | propose_hypothesis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807208"/>
            <a:ext cx="11247120" cy="502920"/>
          </a:xfrm>
          <a:prstGeom prst="rect">
            <a:avLst/>
          </a:prstGeom>
          <a:solidFill>
            <a:srgbClr val="FAF9F5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9864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builder-v1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43200" y="289864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5A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74720" y="289864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working, skills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49440" y="289864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code_exec_sandbox | file_io | tool_compile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374136"/>
            <a:ext cx="11247120" cy="502920"/>
          </a:xfrm>
          <a:prstGeom prst="rect">
            <a:avLst/>
          </a:prstGeom>
          <a:solidFill>
            <a:srgbClr val="FAF9F5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46557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critic-v1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743200" y="3465576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5A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74720" y="3465576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semantic, causal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49440" y="346557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falsify | search_counterevidence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941064"/>
            <a:ext cx="11247120" cy="502920"/>
          </a:xfrm>
          <a:prstGeom prst="rect">
            <a:avLst/>
          </a:prstGeom>
          <a:solidFill>
            <a:srgbClr val="FAF9F5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032504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verifier-v1*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743200" y="4032504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5A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T1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474720" y="4032504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working, episodic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49440" y="4032504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run_grader | replicate | calibration_score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507992"/>
            <a:ext cx="11247120" cy="502920"/>
          </a:xfrm>
          <a:prstGeom prst="rect">
            <a:avLst/>
          </a:prstGeom>
          <a:solidFill>
            <a:srgbClr val="FAF9F5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59943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librarian-v1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743200" y="459943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5A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T0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474720" y="459943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all (read), candidates (write)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949440" y="459943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schedule_dream | attach_store | decay_sweep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5074920"/>
            <a:ext cx="11247120" cy="502920"/>
          </a:xfrm>
          <a:prstGeom prst="rect">
            <a:avLst/>
          </a:prstGeom>
          <a:solidFill>
            <a:srgbClr val="FAF9F5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51663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planner-v1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2743200" y="5166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5A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T0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474720" y="51663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frontier, working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949440" y="5166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budget | schedule | escalate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5641848"/>
            <a:ext cx="11247120" cy="502920"/>
          </a:xfrm>
          <a:prstGeom prst="rect">
            <a:avLst/>
          </a:prstGeom>
          <a:solidFill>
            <a:srgbClr val="FAF9F5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573328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auditor-v1**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2743200" y="573328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5A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T0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474720" y="573328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all (read-only)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949440" y="573328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sign_why_doc | fire_tripwire | page_overseer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88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* verifier-v1 and ** auditor-v1 pinned to a different model checkpoint than researcher-v1/builder-v1.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17 / 19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CSIS | v0.1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17 | 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Phased build - each phase gated by the previous phase's safety metrics.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11247120" cy="868680"/>
          </a:xfrm>
          <a:prstGeom prst="rect">
            <a:avLst/>
          </a:prstGeom>
          <a:solidFill>
            <a:srgbClr val="F2F0E8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83080"/>
            <a:ext cx="109728" cy="86868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92808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Phase 0 | Skeleton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0" y="194767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Wks 1-6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2402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A5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Substrate, single-agent loop (T0/T1), V1+V2, shut-down invariant.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11247120" cy="868680"/>
          </a:xfrm>
          <a:prstGeom prst="rect">
            <a:avLst/>
          </a:prstGeom>
          <a:solidFill>
            <a:srgbClr val="F2F0E8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743200"/>
            <a:ext cx="109728" cy="86868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852928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Phase 1 | Society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58000" y="290779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Wks 6-14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2004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A5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Multi-agent roles, 5-tier memory + Dreams, frontier map, I1-I3.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703320"/>
            <a:ext cx="11247120" cy="868680"/>
          </a:xfrm>
          <a:prstGeom prst="rect">
            <a:avLst/>
          </a:prstGeom>
          <a:solidFill>
            <a:srgbClr val="F2F0E8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703320"/>
            <a:ext cx="109728" cy="868680"/>
          </a:xfrm>
          <a:prstGeom prst="rect">
            <a:avLst/>
          </a:prstGeom>
          <a:solidFill>
            <a:srgbClr val="6A9BCC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813048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Phase 2 | Continuous run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858000" y="386791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A9B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Wks 14-24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41605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A5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24/7 in benchmark domain, V3-V5 verification, oversight surfaces.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663440"/>
            <a:ext cx="11247120" cy="868680"/>
          </a:xfrm>
          <a:prstGeom prst="rect">
            <a:avLst/>
          </a:prstGeom>
          <a:solidFill>
            <a:srgbClr val="F2F0E8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663440"/>
            <a:ext cx="109728" cy="868680"/>
          </a:xfrm>
          <a:prstGeom prst="rect">
            <a:avLst/>
          </a:prstGeom>
          <a:solidFill>
            <a:srgbClr val="6A9BCC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773168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Phase 3 | Recursive meta (gated)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858000" y="482803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A9B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Quarter+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51206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A5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I4-I5, interpretability online, external red-team before any T4.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623560"/>
            <a:ext cx="11247120" cy="868680"/>
          </a:xfrm>
          <a:prstGeom prst="rect">
            <a:avLst/>
          </a:prstGeom>
          <a:solidFill>
            <a:srgbClr val="F2F0E8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5623560"/>
            <a:ext cx="109728" cy="868680"/>
          </a:xfrm>
          <a:prstGeom prst="rect">
            <a:avLst/>
          </a:prstGeom>
          <a:solidFill>
            <a:srgbClr val="788C5D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5733288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Phase 4 | Generalization (gated)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858000" y="57881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88C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Multi-Q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1520" y="608076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A5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I6-I7, cross-domain transfer, RSP-style capability gates.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18 / 19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CSIS | v0.1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FINIS | THE ASK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 always-on system that earns its capability - under load-bearing oversight.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10972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5C5A5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architecture extends Anthropic's stack rather than replacing it. Sessions, Memory Stores, and Dreams cover ~80% of what CSIS needs for Phase 0 and Phase 1. The remaining 20% - cross-checkpoint verification, tripwire classifiers, recursion-depth bookkeeping, substrate tier enforcement - is exactly the platform features a CSIS deployment would help motivate.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4572000"/>
            <a:ext cx="10972800" cy="1280160"/>
          </a:xfrm>
          <a:prstGeom prst="rect">
            <a:avLst/>
          </a:prstGeom>
          <a:solidFill>
            <a:srgbClr val="F2F0E8"/>
          </a:solidFill>
          <a:ln w="19050">
            <a:solidFill>
              <a:srgbClr val="D977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4572000"/>
            <a:ext cx="73152" cy="128016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7091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i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step: a 30-min technical conversation on Phase 0, anchored on Sessions + Memory Stores + Dreams.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8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Jaron | jim4226@miami.edu | Continuation of the conversation from the Anthropic code event, May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CSIS - Continuous Self-Improving System</dc:title>
  <dc:subject>PptxGenJS Presentation</dc:subject>
  <dc:creator>Jaron</dc:creator>
  <cp:lastModifiedBy>Jaron</cp:lastModifiedBy>
  <cp:revision>1</cp:revision>
  <dcterms:created xsi:type="dcterms:W3CDTF">2026-05-13T23:14:37Z</dcterms:created>
  <dcterms:modified xsi:type="dcterms:W3CDTF">2026-05-13T23:14:37Z</dcterms:modified>
</cp:coreProperties>
</file>